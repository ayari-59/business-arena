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M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ARENA · Business Model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ARENA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simulation de gestion pour l'enseignement superieur francais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executif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0972800" cy="1005840"/>
          </a:xfrm>
          <a:prstGeom prst="roundRect">
            <a:avLst>
              <a:gd name="adj" fmla="val 10909"/>
            </a:avLst>
          </a:prstGeom>
          <a:solidFill>
            <a:srgbClr val="33415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98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29844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d'entreprise en ligne pour l'enseignement de la gestion (BTS, DCG, Bac STMG). 9 secteurs, 6 niveaux, 35 fiches notions, 18 modeles d'aide a la decision.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10972800" cy="1005840"/>
          </a:xfrm>
          <a:prstGeom prst="roundRect">
            <a:avLst>
              <a:gd name="adj" fmla="val 10909"/>
            </a:avLst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871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248716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Freemium. Le jeu est gratuit, les outils enseignant sont payants. Deux paliers : Pro (149 EUR/an par enseignant) et Etablissement (490 EUR/an, enseignants illimites).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10972800" cy="1005840"/>
          </a:xfrm>
          <a:prstGeom prst="roundRect">
            <a:avLst>
              <a:gd name="adj" fmla="val 10909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758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367588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~13 000 enseignants de gestion en France dans les filieres ciblees. Marche adressable de 1,2 a 1,9 million EUR/an.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846320"/>
            <a:ext cx="10972800" cy="1005840"/>
          </a:xfrm>
          <a:prstGeom prst="roundRect">
            <a:avLst>
              <a:gd name="adj" fmla="val 10909"/>
            </a:avLst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646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486460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plateforme qui couvre 6 diplomes francais avec des ateliers alignes sur les referentiels officiels, un moteur economique deterministe et des corriges integres.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probleme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L'enseignement de la gestion repose sur des outils inadaptes.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papier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L'etudiant repond a des questions, il ne decide pas. Pas de consequence, pas de retour.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783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Tableurs statiques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1945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marche, pas de concurrence, pas de situation imprevue. Le calcul est juste, le contexte est faux.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86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Logiciels generiques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lien avec les referentiels francais. L'enseignant passe plus de temps a adapter qu'a enseigner.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3886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preparation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42976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cas realiste avec des chiffres coherents prend des dizaines d'heures par sequence.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complete qui remplace le cas papier par une entreprise vivante.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realiste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secteurs avec un moteur economique deterministe : demande, elasticite, stocks, BFR, tresorerie. Chaque chiffre est calcule.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783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Pedagogie integree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1945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fiches notions, 18 modeles de decision, des situations qui surgissent a chaque tour avec diagnostic et QCM.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86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Ateliers cle en main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ateliers alignes sur les referentiels officiels (BTS CG, MCO, NDRC, GPME, DCG, STMG). Deroule minute, livrables, evaluation.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3886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installation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42976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web, pas de logiciel a installer, pas de serveur a maintenir. L'etudiant joue sur son navigateur.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marche cible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L'enseignement de la gestion dans le superieur francais.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en France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Enseignants (est.)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051560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86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STMG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~2 500 sections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0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~5 000 enseignants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10515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34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MCO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2834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~1 500 sections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0" y="2834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~3 000 enseignants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1051560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83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CG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~1 000 sections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~2 000 enseignants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10515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31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NDRC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0" y="3931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 sections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0" y="3931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~1 600 enseignants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1051560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480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GPME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0" y="4480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sections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0" y="4480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~1 200 enseignants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029200"/>
            <a:ext cx="105156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029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0" y="5029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sections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0" y="5029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enseignants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5486400"/>
            <a:ext cx="10515600" cy="640080"/>
          </a:xfrm>
          <a:prstGeom prst="roundRect">
            <a:avLst>
              <a:gd name="adj" fmla="val 17143"/>
            </a:avLst>
          </a:prstGeom>
          <a:solidFill>
            <a:srgbClr val="334155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486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Marche adressable total : ~13 400 enseignants  ·  ~6 700 sections  ·  ~200 000 etudiants/an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business model : freemium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est gratuit. Les outils de l'enseignant sont payants.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complet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secteurs, 6 niveaux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fiches notions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Situations et QCM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financiers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liee au navigateur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suivi de classe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182880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874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· 149 EUR/an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enseignant, toutes ses classes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gratuit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ateliers complets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3566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Corriges et dossier enseignant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0" y="3977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d'acces eleves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4389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Competitions et classement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4800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notes et suivi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55280" y="182880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0" y="1874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ETABLISSEMENT · 490 EUR/an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38160" y="2331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Enseignants illimites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3816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Pro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3816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Profs illimites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8160" y="3566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etablissement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38160" y="3977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de commande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38160" y="4389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 administratif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38160" y="4800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d'usage agregees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ces prix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33415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984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 EUR/an = 12,40 EUR/mois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prix de 5 manuels scolaires. Un enseignant qui equipe une classe de 30 eleves paie 30 fois plus en manuels. Ce montant entre dans l'enveloppe pedagogique individuelle (100-200 EUR) sans validation hierarchique.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3288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 EUR/an &lt; seuil de marche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plupart des etablissements publics, les achats sous 500 EUR passent sans appel d'offres. Un proviseur valide en une signature. Compare au budget manuels d'une section (3 000-5 000 EUR/an), c'est invisible.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6732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mensuelle a 15 EUR/mois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de tester un semestre (90 EUR) sans engagement annuel. L'enseignant qui decouvre en janvier peut utiliser jusqu'en juin et decider en septembre.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98348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0176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gratuit reste genereux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394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complet, les 35 fiches notions, les situations : tout ce que l'etudiant voit est gratuit. C'est ce qui fait que la plateforme se diffuse par le bouche-a-oreille entre collegues et entre etudiants.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L'acces eleve : un code, pas un compte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eleve a un acces personnel sans inscription, sans email, sans mot de passe.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L'enseignant cree sa classe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1488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saisit les prenoms ou pseudos, repartit les equipes.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9718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code par eleve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2461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genere un code unique (ex: BA-X7K9). L'enseignant distribue les codes.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0690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977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L'eleve entre son code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3434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retrouve son equipe, sa partie, son historique, sur n'importe quel appareil.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02920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51663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66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5074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persistante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54406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stockee sur le serveur. Changement de poste, de navigateur, de salle : le code suffit.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577840"/>
            <a:ext cx="10972800" cy="548640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577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: zero donnee personnelle sensible. Pas d'email, pas de date de naissance. Le prenom peut etre un pseudo. Suppression a la demande de l'enseignant.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l'eleve retrouve avec son 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en cours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Etat de l'entreprise, tour actuel, decisions a prendre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417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d'equipe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828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resultats financiers, classement, tour par tour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QCM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Reponses individuelles aux diagnostics et quiz de chaque situation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88036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926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notions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33375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notions rencontrees en jeu, avec definitions et formules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34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passees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l'enseignant lance une nouvelle partie, l'ancienne reste consultable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43891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434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4846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synthetique des indicateurs cles de l'entreprise dirigee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 d'acquisition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canaux, du plus leger au plus structure.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097280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(gratuit)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L'etudiant joue, en parle a son prof. Le prof teste, en parle a ses collegues. La version gratuite est le meilleur commercial.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0" y="18288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: 0 EUR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attendue : 2-5%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1097280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918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(faible cout)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notions referencees sur Google. Articles pedagogiques. Presence sur les reseaux d'enseignants (Viaeduc, groupes Facebook BTS). Webinaires de demonstration.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0" y="33375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: temps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attendue : 5-10%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10972800" cy="1280160"/>
          </a:xfrm>
          <a:prstGeom prst="roundRect">
            <a:avLst>
              <a:gd name="adj" fmla="val 8571"/>
            </a:avLst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006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Prescripteurs (moyen terme)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1663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Inspecteurs d'academie, associations de professeurs d'economie-gestion (APEG), salons de l'education (Educatec), reseaux CERPEG.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0" y="48463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: deplacement + temps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attendue : 10-20%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Metriques cles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Metrique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qu'elle dit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1920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lancees/semaine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0" y="1920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d'enseignants qui testent le jeu gratuit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09728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60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2560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de 3+ tours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55280" y="2560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enseignant qui joue 3 tours a compris le produit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00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0" y="3200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vers Pro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55280" y="3200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passage au palier payant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404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0" y="38404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Renouvellement annuel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55280" y="38404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enseignant qui renouvelle a integre l'outil dans son cours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10972800" cy="5486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80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0" y="4480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vers Etablissement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55280" y="4480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enseignant satisfait convainc ses collegues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120640"/>
            <a:ext cx="109728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120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97680" y="5120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/ ARR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55280" y="5120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mensuel et annuel recurrent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de revenus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 : croissance organique, pas de levee de fonds, un seul developpeur.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0664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09760" y="17373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 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097280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Enseignants Pro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0664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50976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109728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80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Etablissements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2880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2880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06640" y="2880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09760" y="2880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1097280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74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Pro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3474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14 900 EUR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3474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74 500 EUR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06640" y="3474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223 500 EUR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09760" y="3474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447 000 EUR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109728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069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Etab.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00400" y="4069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4 900 EUR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4069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24 500 EUR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06640" y="4069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73 500 EUR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509760" y="4069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147 000 EUR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1097280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6634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total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00400" y="4663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19 800 EUR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03520" y="4663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99 000 EUR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06640" y="4663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297 000 EUR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509760" y="4663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594 000 EUR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5257800"/>
            <a:ext cx="109728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5257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Eleves touches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200400" y="5257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~3 000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03520" y="5257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~15 000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406640" y="5257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~45 000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509760" y="5257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~90 000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: 30 eleves/classe, 1 classe/enseignant Pro, retention 70%, pas de reseau ni formation.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couts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produit logiciel pur : pas de stock, pas de logistique, pas de formateur.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0" y="1645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annuel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0972800" cy="5486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94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Hebergement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2194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Serveur, base de donnees, CDN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2194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EUR/mois au demarrage, ~200 EUR/mois a 1 000 utilisateurs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784080" y="21945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~2 400 EUR/an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109728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+ email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28346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business-arena.fr, email pro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28346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EUR/an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784080" y="2834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EUR/an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10972800" cy="5486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(Stripe)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08960" y="3474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1,4% + 0,25 EUR/transaction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3474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revenus encaisses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784080" y="3474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~2% du CA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14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08960" y="41148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documentation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4114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du fondateur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84080" y="4114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EUR (internalise)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754880"/>
            <a:ext cx="10972800" cy="5486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754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08960" y="4754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Contenus, webinaires, deplacements salons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4754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selon ambition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784080" y="47548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1 000-5 000 EUR/an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394960"/>
            <a:ext cx="109728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5394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Developpement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08960" y="53949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Maintenance, nouvelles fonctionnalites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26480" y="53949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du fondateur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784080" y="5394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EUR (internalise)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5577840"/>
            <a:ext cx="10972800" cy="548640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5577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fixe annuel estime : 3 500 - 7 500 EUR  ·  Seuil de rentabilite : ~25 enseignants Pro ou ~8 etablissements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Paysage concurrentiel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33415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984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Kalypso / Simuland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931920" y="12984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Jeux de gestion generiques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alignes sur les referentiels francais. Pas de situations pedagogiques ni de corriges. Interface datee.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328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papier (Nathan, Delagrave)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25328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Manuels et cas imprimes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Statiques, pas de consequence aux decisions. L'enseignant passe du temps a corriger ce que la machine pourrait verifier.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673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Tableurs maison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37673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Excel crees par les profs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Fragiles, non partageables, pas de concurrence ni de marche simule. Des heures de preparation pour un seul scenario.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98348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017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Arena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50017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+ pedagogie + referentiels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3949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secteurs, moteur deterministe, 6 ateliers officiels, corriges integres, zero installation, acces eleve par code.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concurrentiels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33415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 referentiel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plateforme ou chaque seance declare ses competences et notions du referentiel officiel. 6 diplomes verifies sur les textes.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26480" y="128016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3258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teste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17373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centaines de tests automatises, y compris la coherence pedagogique. Aucun chiffre invente, tout est deterministe et reproductible.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80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genereux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complet est gratuit. La diffusion est virale : l'etudiant joue, le collegue teste. Pas de version bridee a 3 tours.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83464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880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friction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32918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d'installation, pas de telechargement, pas de configuration serveur. L'enseignant lance sa premiere partie en 2 minutes.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34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Profondeur pedagogique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notions, 18 modeles, des situations avec diagnostic et corriges. Ce n'est pas un jeu habille en cours, c'est un cours habille en jeu.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438912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434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de reseau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48463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competitions entre classes creent un engagement que le cas papier ne peut pas reproduire.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produit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965960" y="2103120"/>
            <a:ext cx="73152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" name="Shape 2"/>
          <p:cNvSpPr/>
          <p:nvPr/>
        </p:nvSpPr>
        <p:spPr>
          <a:xfrm>
            <a:off x="1737360" y="16459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1874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beta publique. 9 secteurs, 6 ateliers. Jeu gratuit. Retours des premiers enseignants.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65960" y="3063240"/>
            <a:ext cx="73152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Shape 7"/>
          <p:cNvSpPr/>
          <p:nvPr/>
        </p:nvSpPr>
        <p:spPr>
          <a:xfrm>
            <a:off x="1737360" y="260604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060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2027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28346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Palier Pro avec codes eleves, persistence serveur, ateliers complets, competitions. Paiement Stripe.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65960" y="4023360"/>
            <a:ext cx="73152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Shape 12"/>
          <p:cNvSpPr/>
          <p:nvPr/>
        </p:nvSpPr>
        <p:spPr>
          <a:xfrm>
            <a:off x="1737360" y="356616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5661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2027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Etablissements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37947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Palier Etablissement. Bon de commande. Facturation. Gestion multi-enseignants.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65960" y="4983480"/>
            <a:ext cx="73152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Shape 17"/>
          <p:cNvSpPr/>
          <p:nvPr/>
        </p:nvSpPr>
        <p:spPr>
          <a:xfrm>
            <a:off x="1737360" y="4526280"/>
            <a:ext cx="502920" cy="50292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5262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2027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68880" y="4754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ateliers (Licence pro, BUT GEA). Scenarios sur mesure. API pour LMS.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737360" y="5486400"/>
            <a:ext cx="502920" cy="50292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5486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68880" y="5440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468880" y="57150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Traduction anglaise. Adaptation aux cursus europeens (IB Business, A-Level). Partenariats editeurs.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et reponses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33415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984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L'enseignant ne paie pas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0" y="12984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gratuit est si bon qu'il suffit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gratuit n'a pas de suivi de classe ni de persistence. Un enseignant qui veut utiliser l'outil en atelier sur 5 seances a BESOIN du Pro.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328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L'Education nationale bloque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25328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Reticence institutionnelle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9864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donnee personnelle. Hebergement en France. Open source possible. Le produit se diffuse par les enseignants, pas par l'institution.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673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concurrent copie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37673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editeur lance un clone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13308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L'avance est dans le contenu pedagogique (6 referentiels verifies, 35 notions) et les tests automatises. La profondeur ne se copie pas en un sprint.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983480"/>
            <a:ext cx="10972800" cy="1051560"/>
          </a:xfrm>
          <a:prstGeom prst="roundRect">
            <a:avLst>
              <a:gd name="adj" fmla="val 10435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017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marche est trop petit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50017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13 000 enseignants, plafond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3675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10% de penetration (1 300 Pro + 130 Etab.), le CA est de ~257 000 EUR/an avec des couts fixes de ~5 000 EUR. La marge est enorme meme a petite echelle.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33415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9844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651760" y="1298448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resout un vrai probleme : rendre la gestion concrete sans preparation titanesque.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5856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51760" y="2258568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concentre et identifiable : 13 000 enseignants dans 6 filieres en France.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1868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51760" y="3218688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a forte marge : couts fixes &lt; 8 000 EUR/an, seuil de rentabilite a 25 clients.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7880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barriere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4178808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pedagogique : 6 referentiels, 35 notions, 18 modeles, des centaines de tests. Ca ne se clone pas en un week-end.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51206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138928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ambition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51760" y="5138928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mesurable : 297 000 EUR de CA en annee 3 avec une croissance 100% organique.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ARENA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Dirigez une entreprise. Apprenez a decider.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· 149 EUR/an enseignant · 490 EUR/an etablissement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business-arena.fr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Business Model</dc:subject>
  <dc:creator>Business Arena</dc:creator>
  <cp:lastModifiedBy>Business Arena</cp:lastModifiedBy>
  <cp:revision>1</cp:revision>
  <dcterms:created xsi:type="dcterms:W3CDTF">2026-08-30T21:33:22Z</dcterms:created>
  <dcterms:modified xsi:type="dcterms:W3CDTF">2026-08-30T21:33:22Z</dcterms:modified>
</cp:coreProperties>
</file>